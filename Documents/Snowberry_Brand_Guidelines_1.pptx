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2.png"/><Relationship Id="rId4" Type="http://schemas.openxmlformats.org/officeDocument/2006/relationships/image" Target="../media/image-26-2.png"/><Relationship Id="rId5" Type="http://schemas.openxmlformats.org/officeDocument/2006/relationships/image" Target="../media/image-2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-137160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55280" y="-1371600"/>
            <a:ext cx="4937760" cy="4937760"/>
          </a:xfrm>
          <a:prstGeom prst="rect">
            <a:avLst/>
          </a:prstGeom>
          <a:solidFill>
            <a:srgbClr val="003399">
              <a:alpha val="45000"/>
            </a:srgbClr>
          </a:solidFill>
          <a:ln/>
        </p:spPr>
      </p:sp>
      <p:pic>
        <p:nvPicPr>
          <p:cNvPr id="4" name="Image 1" descr="assets/wordmark_sta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057638" cy="1828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4206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7724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· Color · Type · Voice · Applications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7724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Prixa Technologies   ·   v2.0   ·   Lalitpur, Nepal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this book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331720" y="22402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63640" y="224028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idea, positioning, essence, values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044952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8152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331720" y="308152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30815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Lockups, safe area, sizing, misuse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22776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331720" y="392277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system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392277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Color, type, the mark, grid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727448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64024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331720" y="476402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messaging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476402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Principles, framework, language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5568696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05272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2331720" y="560527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63640" y="560527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app, collaboration, social, merch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6409944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6E8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Snowberry believes, and who it is for.</a:t>
            </a:r>
            <a:endParaRPr lang="en-US" sz="1800" dirty="0"/>
          </a:p>
        </p:txBody>
      </p:sp>
      <p:pic>
        <p:nvPicPr>
          <p:cNvPr id="5" name="Image 0" descr="asset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46634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 / THE IDEA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5448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5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of a story should</a:t>
            </a:r>
            <a:endParaRPr lang="en-US" sz="5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5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how far it travels — </a:t>
            </a:r>
            <a:endParaRPr lang="en-US" sz="5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5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</a:t>
            </a:r>
            <a:endParaRPr lang="en-US" sz="5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5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of the team behind it.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5212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 is the AI-native publishing engine that makes that true at any scale — from a single reporter to a national newsroom.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 / 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organizations who refuse to let operational complexity limit editorial ambition.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publishing engine that decouples reach from headcount — built engine-first, not a CMS with AI added 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66560" y="2057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WIN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2331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Newsroom Builder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0" y="262432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— scale without a hundred engineers.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3044952"/>
            <a:ext cx="4617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2918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Storyteller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66560" y="358444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— get the story out, zero friction.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4005072"/>
            <a:ext cx="4617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2519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Independent Voice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66560" y="4544568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there is no floor — same engine for one.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4965192"/>
            <a:ext cx="4617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 / ESSENCE &amp; VALUES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holds the brand. Amplitude is the height of a wave — its power, set by nothing but itself. The story sets the amplitude; the engine carries it to full height.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6118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794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VALUES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first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Reach, not features.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8648" y="41605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98648" y="452628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98648" y="51206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is failure.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0056" y="41605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0056" y="452628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not promised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0056" y="51206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first.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41464" y="41605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41464" y="452628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not borrowed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41464" y="51206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the engine.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62872" y="41605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62872" y="4526280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Timeless over trendy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2872" y="5120640"/>
            <a:ext cx="189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decade.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6E8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mark, used with discipline.</a:t>
            </a:r>
            <a:endParaRPr lang="en-US" sz="1800" dirty="0"/>
          </a:p>
        </p:txBody>
      </p:sp>
      <p:pic>
        <p:nvPicPr>
          <p:cNvPr id="5" name="Image 0" descr="asset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46634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LOGO / PRIMARY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10607040" cy="3200400"/>
          </a:xfrm>
          <a:prstGeom prst="rect">
            <a:avLst/>
          </a:prstGeom>
          <a:solidFill>
            <a:srgbClr val="F4F4F6"/>
          </a:solidFill>
          <a:ln/>
        </p:spPr>
      </p:sp>
      <p:pic>
        <p:nvPicPr>
          <p:cNvPr id="5" name="Image 0" descr="assets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331720"/>
            <a:ext cx="5943600" cy="193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892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horizontal wordmark is the primary logo. Always use the supplied artwork — never re-type or re-draw it.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5257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colours are Snowberry Blue on light, white on blue or imagery. No other colourways exist.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LOGO / LOCKUPS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lockups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3352800" cy="2743200"/>
          </a:xfrm>
          <a:prstGeom prst="rect">
            <a:avLst/>
          </a:prstGeom>
          <a:solidFill>
            <a:srgbClr val="F4F4F6"/>
          </a:solidFill>
          <a:ln/>
        </p:spPr>
      </p:sp>
      <p:pic>
        <p:nvPicPr>
          <p:cNvPr id="6" name="Image 0" descr="assets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017520"/>
            <a:ext cx="2529840" cy="8216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04360" y="2011680"/>
            <a:ext cx="3352800" cy="2743200"/>
          </a:xfrm>
          <a:prstGeom prst="rect">
            <a:avLst/>
          </a:prstGeom>
          <a:solidFill>
            <a:srgbClr val="F4F4F6"/>
          </a:solidFill>
          <a:ln/>
        </p:spPr>
      </p:sp>
      <p:pic>
        <p:nvPicPr>
          <p:cNvPr id="8" name="Image 1" descr="assets/wordmark_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560320"/>
            <a:ext cx="2446110" cy="1463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31480" y="2011680"/>
            <a:ext cx="3352800" cy="2743200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10" name="Image 2" descr="assets/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640" y="2514600"/>
            <a:ext cx="1554480" cy="1554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491947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77240" y="5212080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Primary. Default.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404360" y="491947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404360" y="5212080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&amp; tight spaces.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031480" y="491947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031480" y="5212080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App, avatar, favicon.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LOGO / SAFE AREA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space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5" name="Image 0" descr="assets/diag_safe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8595360" cy="46414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2011680"/>
            <a:ext cx="8595360" cy="464149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869680" y="2743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clear space is X on every side, where X is the height of the wordmark. Keep type, images, and edges out of this zone.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LOGO / MINIMUM SIZE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size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5" name="Image 0" descr="assets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2926080" cy="9503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383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— 120 px wide (digital) · 25 mm (print)</a:t>
            </a:r>
            <a:endParaRPr lang="en-US" sz="1500" dirty="0"/>
          </a:p>
        </p:txBody>
      </p:sp>
      <p:pic>
        <p:nvPicPr>
          <p:cNvPr id="7" name="Image 1" descr="assets/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422452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— 24 px minimum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766560" y="237744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these sizes legibility breaks down and the mark must not be used. When in doubt, give it more room, not less.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LOGO / BACKGROUNDS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backgrounds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3352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pic>
        <p:nvPicPr>
          <p:cNvPr id="6" name="Image 0" descr="assets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971800"/>
            <a:ext cx="2621280" cy="8513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04360" y="2057400"/>
            <a:ext cx="3352800" cy="2286000"/>
          </a:xfrm>
          <a:prstGeom prst="rect">
            <a:avLst/>
          </a:prstGeom>
          <a:solidFill>
            <a:srgbClr val="003399"/>
          </a:solidFill>
          <a:ln/>
        </p:spPr>
      </p:sp>
      <p:pic>
        <p:nvPicPr>
          <p:cNvPr id="8" name="Image 1" descr="assets/word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0" y="2971800"/>
            <a:ext cx="2621280" cy="85137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31480" y="2057400"/>
            <a:ext cx="3352800" cy="2286000"/>
          </a:xfrm>
          <a:prstGeom prst="rect">
            <a:avLst/>
          </a:prstGeom>
          <a:solidFill>
            <a:srgbClr val="0D0D12"/>
          </a:solidFill>
          <a:ln/>
        </p:spPr>
      </p:sp>
      <p:pic>
        <p:nvPicPr>
          <p:cNvPr id="10" name="Image 2" descr="assets/wordm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2971800"/>
            <a:ext cx="2621280" cy="8513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450799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on white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77240" y="478231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positive.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404360" y="450799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on blue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404360" y="478231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reverse.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031480" y="450799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on ink/photo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031480" y="4782312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dark or busy backgrounds.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77240" y="5394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strong contrast. Never place the blue wordmark on blue, or on a busy image — switch to white.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LOGO / MISUSE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do these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3352800" cy="155448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295144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recolour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blue or white.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4360" y="2057400"/>
            <a:ext cx="3352800" cy="155448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4587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90160" y="2295144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stretch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7240" y="283464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proportions.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31480" y="2057400"/>
            <a:ext cx="3352800" cy="155448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143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17280" y="2295144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rotate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14360" y="283464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stays level.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840480"/>
            <a:ext cx="3352800" cy="155448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078224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add effects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17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shadow or glow.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4360" y="3840480"/>
            <a:ext cx="3352800" cy="155448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458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90160" y="4078224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crowd 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87240" y="4617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clear space.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31480" y="3840480"/>
            <a:ext cx="3352800" cy="155448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82143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717280" y="4078224"/>
            <a:ext cx="252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outline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14360" y="4617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strokes on the mark.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6E8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system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Color, type, the mark, and the grid.</a:t>
            </a:r>
            <a:endParaRPr lang="en-US" sz="1800" dirty="0"/>
          </a:p>
        </p:txBody>
      </p:sp>
      <p:pic>
        <p:nvPicPr>
          <p:cNvPr id="5" name="Image 0" descr="asset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46634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VISUAL SYSTEM / COLOR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71600"/>
            <a:ext cx="5120640" cy="457200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 Blue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074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003399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0 · 51 · 153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 100 · 67 · 0 · 40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of every layout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1005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48132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White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43800" y="1874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 — backgrounds, reverse logo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496312"/>
            <a:ext cx="1005840" cy="1005840"/>
          </a:xfrm>
          <a:prstGeom prst="rect">
            <a:avLst/>
          </a:prstGeom>
          <a:solidFill>
            <a:srgbClr val="E8EEFA"/>
          </a:solidFill>
          <a:ln w="9525">
            <a:solidFill>
              <a:srgbClr val="E8EE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2606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43800" y="299923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#E8EEFA — panels &amp; fills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621024"/>
            <a:ext cx="1005840" cy="1005840"/>
          </a:xfrm>
          <a:prstGeom prst="rect">
            <a:avLst/>
          </a:prstGeom>
          <a:solidFill>
            <a:srgbClr val="0D0D12"/>
          </a:solidFill>
          <a:ln w="9525">
            <a:solidFill>
              <a:srgbClr val="0D0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37307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43800" y="412394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#0D0D12 — text &amp; dark grounds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745736"/>
            <a:ext cx="1005840" cy="1005840"/>
          </a:xfrm>
          <a:prstGeom prst="rect">
            <a:avLst/>
          </a:prstGeom>
          <a:solidFill>
            <a:srgbClr val="787C86"/>
          </a:solidFill>
          <a:ln w="9525">
            <a:solidFill>
              <a:srgbClr val="78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485546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3800" y="52486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#787C86 — secondary 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VISUAL SYSTEM / TYPOGRAPHY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Helvetica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neo-grotesque that defines the International Typographic Style. One family, used with weight and scale — never decoration.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60934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46–72 pt Bold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0" y="13716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at full volume.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0" y="1938528"/>
            <a:ext cx="589788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12140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235915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28–40 pt Bold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212140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room for the story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0" y="2688336"/>
            <a:ext cx="589788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87121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18–22 pt Regular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06640" y="2871216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earned by the work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0" y="3438144"/>
            <a:ext cx="589788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621024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85876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13–15 pt Regular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362102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to published, zero friction.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4187952"/>
            <a:ext cx="589788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43708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46085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9–11 pt · tracked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437083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 · BRAND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4937760"/>
            <a:ext cx="589788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VISUAL SYSTEM / THE 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star means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3657600" cy="3657600"/>
          </a:xfrm>
          <a:prstGeom prst="rect">
            <a:avLst/>
          </a:prstGeom>
          <a:solidFill>
            <a:srgbClr val="F4F4F6"/>
          </a:solidFill>
          <a:ln/>
        </p:spPr>
      </p:sp>
      <p:pic>
        <p:nvPicPr>
          <p:cNvPr id="6" name="Image 0" descr="assets/sta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743200"/>
            <a:ext cx="1645920" cy="1645920"/>
          </a:xfrm>
          <a:prstGeom prst="rect">
            <a:avLst/>
          </a:prstGeom>
        </p:spPr>
      </p:pic>
      <p:pic>
        <p:nvPicPr>
          <p:cNvPr id="7" name="Image 1" descr="assets/sta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5856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23560" y="2240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aperture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623560" y="25877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opening — the room built for the story to come through.</a:t>
            </a:r>
            <a:endParaRPr lang="en-US" sz="1400" dirty="0"/>
          </a:p>
        </p:txBody>
      </p:sp>
      <p:pic>
        <p:nvPicPr>
          <p:cNvPr id="10" name="Image 2" descr="assets/sta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401568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23560" y="3383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north star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5623560" y="37307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and reach; the point a story travels toward.</a:t>
            </a:r>
            <a:endParaRPr lang="en-US" sz="1400" dirty="0"/>
          </a:p>
        </p:txBody>
      </p:sp>
      <p:pic>
        <p:nvPicPr>
          <p:cNvPr id="13" name="Image 3" descr="assets/star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544568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23560" y="4526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volume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5623560" y="48737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points pushing outward — expression at full amplitude.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77240" y="5897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star sits inside the “o” of snowberry — mark and name are one.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VISUAL SYSTEM / LAYOUT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&amp; principles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4937760" cy="329184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103120"/>
            <a:ext cx="0" cy="329184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2103120"/>
            <a:ext cx="0" cy="329184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2103120"/>
            <a:ext cx="0" cy="329184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2103120"/>
            <a:ext cx="0" cy="329184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103120"/>
            <a:ext cx="0" cy="329184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286000"/>
            <a:ext cx="1371600" cy="45720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926080"/>
            <a:ext cx="3017520" cy="292608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337560"/>
            <a:ext cx="3017520" cy="201168"/>
          </a:xfrm>
          <a:prstGeom prst="rect">
            <a:avLst/>
          </a:prstGeom>
          <a:solidFill>
            <a:srgbClr val="E2E2E7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3931920"/>
            <a:ext cx="2194560" cy="11887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50468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12-column grid · align everything to 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Negative space is a material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24140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page breathe. Empty space is intentional, not unfilled.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0632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Align to the grid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33741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element starts on a column. Nothing floats.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Type does the 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4334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comes from weight and scale, not ornament.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9834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Flat, always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52943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gradients, no drop shadows, no bevels.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6E8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</a:t>
            </a:r>
            <a:endParaRPr lang="en-US" sz="10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Snowberry sounds, and what it says.</a:t>
            </a:r>
            <a:endParaRPr lang="en-US" sz="1800" dirty="0"/>
          </a:p>
        </p:txBody>
      </p:sp>
      <p:pic>
        <p:nvPicPr>
          <p:cNvPr id="5" name="Image 0" descr="asset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46634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VOICE / PRINCIPLES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builder who reveres the craft of storytelling. Proof in one hand, respect for the writer in the other.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4160520"/>
            <a:ext cx="2331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97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526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boastful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Reverent about the story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429000" y="4160520"/>
            <a:ext cx="2331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297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4526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sentimental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8076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&amp; sharp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080760" y="4160520"/>
            <a:ext cx="2331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297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4526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jargon-heavy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Timeless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732520" y="4160520"/>
            <a:ext cx="2331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4297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32520" y="4526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trend-chasing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MESSAGING /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messaging house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0607040" cy="82296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C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of a story should decide its reach, not the size of the team. Snowberry makes it true at any scale.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3352800" cy="219456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0632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at scale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294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 in market.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reader visits.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others take 5 years to reach.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4360" y="2880360"/>
            <a:ext cx="3352800" cy="219456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960" y="30632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32960" y="333756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not retrofitted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2960" y="3931920"/>
            <a:ext cx="294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built ground-up.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runs the operation.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brief to performance.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31480" y="2880360"/>
            <a:ext cx="3352800" cy="219456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60080" y="30632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60080" y="333756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friction, any scale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60080" y="3931920"/>
            <a:ext cx="294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reporter to national desk.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audio, visual.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to distribution, no fight.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solidFill>
            <a:srgbClr val="0D0D12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257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is the oldest human act. As long as humans have something to say, the need for the room never ends.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MESSAGING / KEY LINES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at full volume.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hero 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97180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was always yours. We built the room.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manifesto 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041648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245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WordPress couldn't build.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46817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challenger 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5065776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24865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Reporters and editors, on steroids.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570585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capability line.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6089904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MESSAGING / LANGUAGE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this, not that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1920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at full 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80760" y="235915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your content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807208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we built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0760" y="2926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CMS / platform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374136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93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earned by the story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0760" y="34930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viral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3941064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5993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knowledge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405993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information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626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not retrofitted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80760" y="4626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features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507492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1937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across a decade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80760" y="51937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many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5641848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6E8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in the world.</a:t>
            </a:r>
            <a:endParaRPr lang="en-US" sz="1800" dirty="0"/>
          </a:p>
        </p:txBody>
      </p:sp>
      <p:pic>
        <p:nvPicPr>
          <p:cNvPr id="5" name="Image 0" descr="asset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46634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APPLICATIONS /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5" name="Image 0" descr="assets/mock_w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7863840" cy="49149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920240"/>
            <a:ext cx="7863840" cy="49149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20116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type, hard left alignment, generous white space, one blue product panel. The homepage hero is the brand thesis in one screen.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APPLICATIONS / MOBILE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5" name="Image 0" descr="assets/mock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65960"/>
            <a:ext cx="2523694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 IN YOUR POCKET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0" y="2423160"/>
            <a:ext cx="5897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Draft, edit, and publish from anywhere. The interface disappears — verbs over labels, one primary action per screen, the writer always in flow.</a:t>
            </a:r>
            <a:endParaRPr lang="en-US" sz="1600" dirty="0"/>
          </a:p>
        </p:txBody>
      </p:sp>
      <p:pic>
        <p:nvPicPr>
          <p:cNvPr id="8" name="Image 1" descr="assets/sta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86791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216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Distraction-free editor</a:t>
            </a:r>
            <a:endParaRPr lang="en-US" sz="1400" dirty="0"/>
          </a:p>
        </p:txBody>
      </p:sp>
      <p:pic>
        <p:nvPicPr>
          <p:cNvPr id="10" name="Image 2" descr="assets/sta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32511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5216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Publish</a:t>
            </a:r>
            <a:endParaRPr lang="en-US" sz="1400" dirty="0"/>
          </a:p>
        </p:txBody>
      </p:sp>
      <p:pic>
        <p:nvPicPr>
          <p:cNvPr id="12" name="Image 3" descr="assets/star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78231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5216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marks AI-assisted blocks</a:t>
            </a:r>
            <a:endParaRPr lang="en-US" sz="1400" dirty="0"/>
          </a:p>
        </p:txBody>
      </p:sp>
      <p:pic>
        <p:nvPicPr>
          <p:cNvPr id="14" name="Image 4" descr="assets/star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523951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52160" y="5212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fast, frictionless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APPLICATIONS / COLLABORATION MODULE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whole desk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5" name="Image 0" descr="assets/mock_col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920240"/>
            <a:ext cx="768096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2396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co-editing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23960" y="2267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writers, one document, live cursors.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23960" y="2926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permissions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23960" y="3182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Editor, Reviewer, Viewer.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23960" y="3840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comments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23960" y="4096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where the work happens.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823960" y="4754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23960" y="5010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who's in the story, right now.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APPLICATIONS / SOCIAL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templates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5" name="Image 0" descr="assets/social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33832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2011680"/>
            <a:ext cx="338328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pic>
        <p:nvPicPr>
          <p:cNvPr id="7" name="Image 1" descr="assets/social_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11680"/>
            <a:ext cx="1903071" cy="3383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34840" y="2011680"/>
            <a:ext cx="1903071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pic>
        <p:nvPicPr>
          <p:cNvPr id="9" name="Image 2" descr="assets/social_linked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11680"/>
            <a:ext cx="3377592" cy="176479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629400" y="2011680"/>
            <a:ext cx="3377592" cy="176479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" y="5532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· 1080²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434840" y="5532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· 1080×1920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629400" y="5532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· 1200×627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77240" y="5943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8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per frame. Blue or white ground, bold line, the mark present but never crowding the message.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APPLICATIONS / MERCHANDISE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5" name="Image 0" descr="assets/merch_appar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257800" cy="3286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920240"/>
            <a:ext cx="5257800" cy="328612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pic>
        <p:nvPicPr>
          <p:cNvPr id="7" name="Image 1" descr="assets/merch_accesso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166360" cy="32289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0" y="1920240"/>
            <a:ext cx="5166360" cy="3228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APPLICATIONS / STATIONERY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card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5" name="Image 0" descr="assets/station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011680"/>
            <a:ext cx="8503920" cy="5314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91640" y="2011680"/>
            <a:ext cx="8503920" cy="5314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snowberry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35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1188720" cy="1188720"/>
          </a:xfrm>
          <a:prstGeom prst="rect">
            <a:avLst/>
          </a:prstGeom>
        </p:spPr>
      </p:pic>
      <p:pic>
        <p:nvPicPr>
          <p:cNvPr id="3" name="Image 1" descr="assets/word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834640"/>
            <a:ext cx="2926080" cy="95037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402336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at full volume.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0" y="47548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was always yours. We built the room.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Prixa Technologies   ·   Lalitpur, Nepal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Snowberry Brand Guidelines</dc:title>
  <dc:subject>PptxGenJS Presentation</dc:subject>
  <dc:creator>Prixa Technologies</dc:creator>
  <cp:lastModifiedBy>Prixa Technologies</cp:lastModifiedBy>
  <cp:revision>1</cp:revision>
  <dcterms:created xsi:type="dcterms:W3CDTF">2026-06-04T16:33:58Z</dcterms:created>
  <dcterms:modified xsi:type="dcterms:W3CDTF">2026-06-04T16:33:58Z</dcterms:modified>
</cp:coreProperties>
</file>